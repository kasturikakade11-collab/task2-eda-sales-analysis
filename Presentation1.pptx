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8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445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47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01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7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68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9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1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45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1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D6B77-29AA-4971-935C-73592135155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FAFF8-C823-4097-90E4-9ECCC4D837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56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353237" y="166437"/>
            <a:ext cx="6421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Montserrat"/>
                <a:cs typeface="Arial" panose="020B0604020202020204" pitchFamily="34" charset="0"/>
              </a:rPr>
              <a:t>Sales Performance Dashboard</a:t>
            </a:r>
            <a:endParaRPr lang="en-IN" sz="3200" b="1" dirty="0">
              <a:latin typeface="Montserrat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05373" y="1174961"/>
            <a:ext cx="2312276" cy="1166649"/>
          </a:xfrm>
          <a:prstGeom prst="round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016754" y="1337345"/>
            <a:ext cx="1828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₹13.59 Cr</a:t>
            </a:r>
          </a:p>
          <a:p>
            <a:r>
              <a:rPr lang="en-IN" sz="2000" dirty="0" smtClean="0"/>
              <a:t>Total Revenue</a:t>
            </a:r>
            <a:endParaRPr lang="en-IN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3605860" y="1189683"/>
            <a:ext cx="2312276" cy="1166649"/>
          </a:xfrm>
          <a:prstGeom prst="round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846712" y="1250490"/>
            <a:ext cx="19391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₹1,38,685</a:t>
            </a:r>
          </a:p>
          <a:p>
            <a:r>
              <a:rPr lang="en-IN" sz="2000" dirty="0" smtClean="0"/>
              <a:t>Average Order Value</a:t>
            </a:r>
            <a:endParaRPr lang="en-IN"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6484785" y="1171013"/>
            <a:ext cx="2312276" cy="1166649"/>
          </a:xfrm>
          <a:prstGeom prst="round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6658304" y="1187836"/>
            <a:ext cx="22631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/>
              <a:t>Electronics</a:t>
            </a:r>
          </a:p>
          <a:p>
            <a:r>
              <a:rPr lang="en-IN" sz="2000" dirty="0" smtClean="0"/>
              <a:t>Top Category (36.5% of revenue)</a:t>
            </a:r>
            <a:endParaRPr lang="en-IN" sz="2000" dirty="0"/>
          </a:p>
        </p:txBody>
      </p:sp>
      <p:sp>
        <p:nvSpPr>
          <p:cNvPr id="14" name="Rounded Rectangle 13"/>
          <p:cNvSpPr/>
          <p:nvPr/>
        </p:nvSpPr>
        <p:spPr>
          <a:xfrm>
            <a:off x="9408797" y="1156431"/>
            <a:ext cx="2312276" cy="1166649"/>
          </a:xfrm>
          <a:prstGeom prst="round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9539355" y="1183457"/>
            <a:ext cx="20511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/>
              <a:t>69.3%</a:t>
            </a:r>
          </a:p>
          <a:p>
            <a:r>
              <a:rPr lang="en-IN" sz="2000" dirty="0" smtClean="0"/>
              <a:t>Revenue from High-tier orders</a:t>
            </a:r>
            <a:endParaRPr lang="en-IN" sz="20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2" y="2522412"/>
            <a:ext cx="2750957" cy="16412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203" y="2522412"/>
            <a:ext cx="2976094" cy="164124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147" y="2522413"/>
            <a:ext cx="5434457" cy="164124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08892" y="4433857"/>
            <a:ext cx="2750957" cy="14290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700" y="4433857"/>
            <a:ext cx="3114051" cy="14290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304" y="4433857"/>
            <a:ext cx="3561461" cy="142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9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57200" y="484094"/>
            <a:ext cx="1017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6176" y="421340"/>
            <a:ext cx="10690412" cy="255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6176" y="421341"/>
            <a:ext cx="1041698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Electronics generated ₹4.96 Cr (36.5%) of total revenue, making it the top-performing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Mobile (₹2.51 Cr) and Laptop (₹2.46 Cr) were the highest revenue-generating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March recorded the highest monthly revenue (₹1.29 Cr), while September was the lowest (₹0.90 Cr).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Bengaluru had the highest average order value at ₹1.55 Lakh per order.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Customers aged 18–24 recorded the highest average order value of ₹1.44 Lakh.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High-value orders represented 36.5% of transactions but generated 69.3% of total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East region generated the highest revenue (₹5.21 Cr), while South had the highest average order value (₹1.46 Lakh).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Male (₹7.05 Cr) and Female (₹6.55 Cr) customers contributed almost equally to revenue.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328" y="3222218"/>
            <a:ext cx="10690412" cy="32093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332328" y="3429000"/>
            <a:ext cx="108562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Focus marketing on Electronics, especially Mobile and Laptop, which generated ₹4.97 Cr combined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Launch targeted promotions in September to improve sales during the lowest-performing month (₹0.90 Cr).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Expand premium product offerings in Bengaluru, where average order value is highest (₹1.55 Lakh).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 the 18–24 age segment with premium Fashion campaigns, as they show the highest spending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Implement loyalty and retention programs for high-value customers, who contribute 69.3% of total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Increase premium product penetration in the East region to improve average order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maintaining high sales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Allocate marketing budget based on age groups and product categories rather than gender, as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contribution is nearly equal across genders.</a:t>
            </a:r>
          </a:p>
        </p:txBody>
      </p:sp>
    </p:spTree>
    <p:extLst>
      <p:ext uri="{BB962C8B-B14F-4D97-AF65-F5344CB8AC3E}">
        <p14:creationId xmlns:p14="http://schemas.microsoft.com/office/powerpoint/2010/main" val="3972537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322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Kasturi</dc:creator>
  <cp:lastModifiedBy>Kasturi</cp:lastModifiedBy>
  <cp:revision>13</cp:revision>
  <dcterms:created xsi:type="dcterms:W3CDTF">2026-06-24T11:24:33Z</dcterms:created>
  <dcterms:modified xsi:type="dcterms:W3CDTF">2026-06-24T21:39:18Z</dcterms:modified>
</cp:coreProperties>
</file>